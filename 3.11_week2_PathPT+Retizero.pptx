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58" r:id="rId3"/>
    <p:sldId id="271" r:id="rId4"/>
    <p:sldId id="261" r:id="rId5"/>
    <p:sldId id="260" r:id="rId6"/>
    <p:sldId id="264" r:id="rId7"/>
    <p:sldId id="265" r:id="rId8"/>
    <p:sldId id="266" r:id="rId9"/>
    <p:sldId id="267" r:id="rId10"/>
    <p:sldId id="268" r:id="rId11"/>
    <p:sldId id="270" r:id="rId12"/>
    <p:sldId id="269" r:id="rId13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handoutMaster" Target="handoutMasters/handoutMaster1.xml"/><Relationship Id="rId14" Type="http://schemas.openxmlformats.org/officeDocument/2006/relationships/notesMaster" Target="notesMasters/notesMaster1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1117"/>
            <a:ext cx="7321550" cy="811357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Enhancing Diagnostic Accuracy in Rare and Common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Fundus Diseases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with a Knowledge-Rich Vision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Language Model</a:t>
            </a:r>
            <a:br>
              <a:rPr lang="zh-CN" altLang="en-US"/>
            </a:br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lang="zh-CN" altLang="en-US" sz="2400">
                <a:sym typeface="+mn-ea"/>
              </a:rPr>
              <a:t>动机：来源实际</a:t>
            </a:r>
            <a:r>
              <a:rPr lang="en-US" altLang="zh-CN" sz="2400">
                <a:sym typeface="+mn-ea"/>
              </a:rPr>
              <a:t> </a:t>
            </a:r>
            <a:r>
              <a:rPr lang="zh-CN" altLang="en-US" sz="2400">
                <a:sym typeface="+mn-ea"/>
              </a:rPr>
              <a:t>许多地区眼科资源不足</a:t>
            </a:r>
            <a:r>
              <a:rPr lang="en-US" altLang="zh-CN" sz="2400">
                <a:sym typeface="+mn-ea"/>
              </a:rPr>
              <a:t>+</a:t>
            </a:r>
            <a:r>
              <a:rPr lang="zh-CN" altLang="en-US" sz="2400">
                <a:sym typeface="+mn-ea"/>
              </a:rPr>
              <a:t>现有模型基本上都只针对特定疾病</a:t>
            </a:r>
            <a:endParaRPr lang="zh-CN" altLang="en-US" sz="2400" b="1"/>
          </a:p>
          <a:p>
            <a:endParaRPr lang="zh-CN" altLang="en-US" sz="2400" b="1"/>
          </a:p>
          <a:p>
            <a:r>
              <a:rPr lang="zh-CN" altLang="en-US" sz="2400" b="1"/>
              <a:t>Task I: Zero-shot fundus disease recognition</a:t>
            </a:r>
            <a:endParaRPr lang="zh-CN" altLang="en-US" sz="2400" b="1"/>
          </a:p>
          <a:p>
            <a:r>
              <a:rPr lang="zh-CN" altLang="en-US" sz="2400" b="1"/>
              <a:t>Task II: Fundus disease identification by image-to-image</a:t>
            </a:r>
            <a:r>
              <a:rPr lang="en-US" altLang="zh-CN" sz="2400" b="1"/>
              <a:t> </a:t>
            </a:r>
            <a:r>
              <a:rPr lang="zh-CN" altLang="en-US" sz="2400" b="1"/>
              <a:t>retrieval</a:t>
            </a:r>
            <a:endParaRPr lang="zh-CN" altLang="en-US" sz="2400" b="1"/>
          </a:p>
          <a:p>
            <a:r>
              <a:rPr lang="zh-CN" altLang="en-US" sz="2400" b="1"/>
              <a:t>Task III: AI-assisted clinical diagnosis</a:t>
            </a:r>
            <a:endParaRPr lang="zh-CN" altLang="en-US" sz="2400" b="1"/>
          </a:p>
          <a:p>
            <a:r>
              <a:rPr lang="zh-CN" altLang="en-US" sz="2400"/>
              <a:t>Task IV: Internal domain retinal disease identification </a:t>
            </a:r>
            <a:endParaRPr lang="zh-CN" altLang="en-US" sz="2400"/>
          </a:p>
          <a:p>
            <a:r>
              <a:rPr lang="zh-CN" altLang="en-US" sz="2400"/>
              <a:t>Task V:</a:t>
            </a:r>
            <a:r>
              <a:rPr lang="en-US" altLang="zh-CN" sz="2400"/>
              <a:t> </a:t>
            </a:r>
            <a:r>
              <a:rPr lang="zh-CN" altLang="en-US" sz="2400"/>
              <a:t>Few-shot fine-tuning</a:t>
            </a:r>
            <a:endParaRPr lang="zh-CN" altLang="en-US" sz="2400"/>
          </a:p>
          <a:p>
            <a:r>
              <a:rPr lang="zh-CN" altLang="en-US" sz="2400"/>
              <a:t>Task VI: Cross-domain fundus disease identification</a:t>
            </a:r>
            <a:endParaRPr lang="zh-CN" altLang="en-US"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3885" y="181610"/>
            <a:ext cx="10515600" cy="605790"/>
          </a:xfrm>
        </p:spPr>
        <p:txBody>
          <a:bodyPr/>
          <a:p>
            <a:r>
              <a:rPr lang="zh-CN" altLang="en-US"/>
              <a:t>数据来源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3885" y="688340"/>
            <a:ext cx="10515600" cy="3181350"/>
          </a:xfrm>
        </p:spPr>
        <p:txBody>
          <a:bodyPr/>
          <a:p>
            <a:r>
              <a:rPr lang="en-US" altLang="zh-CN"/>
              <a:t>pretraining</a:t>
            </a:r>
            <a:r>
              <a:rPr lang="zh-CN" altLang="en-US"/>
              <a:t>：MAE-based backbone</a:t>
            </a:r>
            <a:r>
              <a:rPr lang="en-US" altLang="zh-CN"/>
              <a:t>(RETFound)</a:t>
            </a:r>
            <a:r>
              <a:rPr lang="zh-CN" altLang="en-US"/>
              <a:t> </a:t>
            </a:r>
            <a:r>
              <a:rPr lang="en-US" altLang="zh-CN"/>
              <a:t>+CLIP+uncertainty-based feature calibration</a:t>
            </a:r>
            <a:endParaRPr lang="en-US" altLang="zh-CN"/>
          </a:p>
          <a:p>
            <a:pPr marL="457200" indent="-457200">
              <a:buAutoNum type="arabicPeriod"/>
            </a:pPr>
            <a:r>
              <a:rPr lang="en-US" altLang="zh-CN"/>
              <a:t>publicly available dataset with category information</a:t>
            </a:r>
            <a:endParaRPr lang="en-US" altLang="zh-CN"/>
          </a:p>
          <a:p>
            <a:pPr marL="457200" indent="-457200">
              <a:buAutoNum type="arabicPeriod"/>
            </a:pPr>
            <a:r>
              <a:rPr lang="en-US" altLang="zh-CN"/>
              <a:t>ophthalmic literature (with disease-related keywords descriptions)</a:t>
            </a:r>
            <a:endParaRPr lang="en-US" altLang="zh-CN"/>
          </a:p>
          <a:p>
            <a:pPr marL="457200" indent="-457200">
              <a:buAutoNum type="arabicPeriod"/>
            </a:pPr>
            <a:r>
              <a:rPr lang="en-US" altLang="zh-CN"/>
              <a:t>image-text pairs from online resources</a:t>
            </a:r>
            <a:endParaRPr lang="en-US" altLang="zh-CN"/>
          </a:p>
          <a:p>
            <a:r>
              <a:t>Data for the tasks of zero-shot and image-to-image retrieval</a:t>
            </a:r>
          </a:p>
          <a:p>
            <a:pPr marL="457200" indent="-457200">
              <a:buAutoNum type="arabicPeriod"/>
            </a:pPr>
            <a:r>
              <a:rPr lang="en-US">
                <a:solidFill>
                  <a:srgbClr val="FF0000"/>
                </a:solidFill>
              </a:rPr>
              <a:t>EYE-15</a:t>
            </a:r>
            <a:r>
              <a:rPr lang="zh-CN" altLang="en-US"/>
              <a:t>（</a:t>
            </a:r>
            <a:r>
              <a:rPr lang="en-US" altLang="zh-CN"/>
              <a:t>H1,H2,H3)-</a:t>
            </a:r>
            <a:r>
              <a:rPr lang="zh-CN" altLang="en-US"/>
              <a:t>来自三家医院，没有给出链接</a:t>
            </a:r>
            <a:endParaRPr lang="zh-CN" altLang="en-US"/>
          </a:p>
          <a:p>
            <a:pPr marL="457200" indent="-457200">
              <a:buAutoNum type="arabicPeriod"/>
            </a:pPr>
            <a:r>
              <a:rPr lang="en-US" altLang="zh-CN">
                <a:solidFill>
                  <a:srgbClr val="FF0000"/>
                </a:solidFill>
              </a:rPr>
              <a:t>ETE-52</a:t>
            </a:r>
            <a:r>
              <a:rPr lang="en-US" altLang="zh-CN"/>
              <a:t> </a:t>
            </a:r>
            <a:r>
              <a:rPr lang="zh-CN" altLang="en-US"/>
              <a:t>（JSIEC</a:t>
            </a:r>
            <a:r>
              <a:rPr lang="en-US" altLang="zh-CN"/>
              <a:t>&amp;</a:t>
            </a:r>
            <a:r>
              <a:rPr lang="zh-CN" altLang="en-US"/>
              <a:t>另外四家医院）</a:t>
            </a:r>
            <a:r>
              <a:rPr lang="en-US" altLang="zh-CN"/>
              <a:t> </a:t>
            </a:r>
            <a:r>
              <a:rPr lang="zh-CN" altLang="en-US"/>
              <a:t>没找到</a:t>
            </a:r>
            <a:r>
              <a:rPr lang="en-US" altLang="zh-CN"/>
              <a:t>o(╥</a:t>
            </a:r>
            <a:r>
              <a:rPr lang="zh-CN" altLang="en-US"/>
              <a:t>﹏</a:t>
            </a:r>
            <a:r>
              <a:rPr lang="en-US" altLang="zh-CN"/>
              <a:t>╥)o </a:t>
            </a:r>
            <a:r>
              <a:rPr lang="zh-CN" altLang="en-US"/>
              <a:t>（只给了很多预训练库的链接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885" y="3937635"/>
            <a:ext cx="10760075" cy="235775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原理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993265" y="1825625"/>
            <a:ext cx="7823200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./zeroshot/modeling/model.py 	Main FLAIR modeling function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CLIP-style Contrastive Framework</a:t>
            </a:r>
            <a:endParaRPr lang="en-US" altLang="zh-CN"/>
          </a:p>
          <a:p>
            <a:r>
              <a:t>MAE-based Backbone</a:t>
            </a:r>
          </a:p>
          <a:p>
            <a:r>
              <a:rPr lang="zh-CN" altLang="en-US"/>
              <a:t>Uncertainty-based Feature Calibration</a:t>
            </a:r>
            <a:endParaRPr lang="zh-CN" altLang="en-US"/>
          </a:p>
          <a:p>
            <a:r>
              <a:rPr lang="zh-CN" altLang="en-US">
                <a:sym typeface="+mn-ea"/>
              </a:rPr>
              <a:t>Low-rank Training Methods / LoRA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Boosting Pathology Foundation Models via Few-shot</a:t>
            </a:r>
            <a:r>
              <a:rPr lang="en-US" altLang="zh-CN"/>
              <a:t> </a:t>
            </a:r>
            <a:r>
              <a:rPr lang="zh-CN" altLang="en-US"/>
              <a:t>Prompt-tuning for Rare Cancer Subtyping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zh-CN" altLang="en-US"/>
              <a:t>目的</a:t>
            </a:r>
            <a:endParaRPr lang="zh-CN" altLang="en-US"/>
          </a:p>
          <a:p>
            <a:r>
              <a:rPr lang="zh-CN" altLang="en-US"/>
              <a:t>罕见癌症诊断困难且容易恶性肿瘤</a:t>
            </a:r>
            <a:r>
              <a:rPr lang="en-US" altLang="zh-CN"/>
              <a:t>,</a:t>
            </a:r>
            <a:r>
              <a:rPr lang="zh-CN" altLang="en-US"/>
              <a:t>尤其儿科的</a:t>
            </a:r>
            <a:endParaRPr lang="zh-CN" altLang="en-US"/>
          </a:p>
          <a:p>
            <a:r>
              <a:rPr lang="zh-CN" altLang="en-US"/>
              <a:t>pathology vision-language (VL) foundation models临床效果有限</a:t>
            </a:r>
            <a:endParaRPr lang="zh-CN" altLang="en-US"/>
          </a:p>
          <a:p>
            <a:r>
              <a:rPr lang="zh-CN" altLang="en-US"/>
              <a:t>现有</a:t>
            </a:r>
            <a:r>
              <a:rPr lang="en-US" altLang="zh-CN"/>
              <a:t>MIL</a:t>
            </a:r>
            <a:r>
              <a:rPr lang="zh-CN" altLang="en-US"/>
              <a:t>方法忽略了多模态特征</a:t>
            </a:r>
            <a:r>
              <a:rPr lang="en-US" altLang="zh-CN"/>
              <a:t>+</a:t>
            </a:r>
            <a:r>
              <a:rPr lang="zh-CN" altLang="en-US"/>
              <a:t>稀释了可解释性</a:t>
            </a:r>
            <a:endParaRPr lang="zh-CN" altLang="en-US"/>
          </a:p>
          <a:p>
            <a:pPr marL="0" indent="0">
              <a:buNone/>
            </a:pPr>
            <a:r>
              <a:rPr lang="en-US" altLang="zh-CN" b="1"/>
              <a:t>PathPT</a:t>
            </a:r>
            <a:endParaRPr lang="en-US" altLang="zh-CN" b="1"/>
          </a:p>
          <a:p>
            <a:pPr marL="457200" indent="-457200">
              <a:buAutoNum type="arabicPeriod"/>
            </a:pPr>
            <a:r>
              <a:rPr lang="en-US" altLang="zh-CN" b="1"/>
              <a:t>few-shot</a:t>
            </a:r>
            <a:endParaRPr lang="en-US" altLang="zh-CN" b="1"/>
          </a:p>
          <a:p>
            <a:pPr marL="457200" indent="-457200">
              <a:buAutoNum type="arabicPeriod"/>
            </a:pPr>
            <a:r>
              <a:rPr lang="zh-CN" altLang="en-US" b="1"/>
              <a:t>癌症区域定位</a:t>
            </a:r>
            <a:endParaRPr lang="en-US" altLang="zh-CN" b="1"/>
          </a:p>
          <a:p>
            <a:r>
              <a:rPr lang="en-US" altLang="zh-CN"/>
              <a:t>spatial-aware visual aggregation</a:t>
            </a:r>
            <a:endParaRPr lang="en-US" altLang="zh-CN"/>
          </a:p>
          <a:p>
            <a:r>
              <a:rPr lang="en-US" altLang="zh-CN"/>
              <a:t>task-adaptive prompt tuning--</a:t>
            </a:r>
            <a:r>
              <a:rPr lang="zh-CN" altLang="en-US"/>
              <a:t>不改变现有模型经验</a:t>
            </a:r>
            <a:endParaRPr lang="en-US" altLang="zh-CN"/>
          </a:p>
          <a:p>
            <a:r>
              <a:rPr lang="en-US" altLang="zh-CN"/>
              <a:t>tile-level supervision from slide-level labels</a:t>
            </a:r>
            <a:endParaRPr lang="en-US" altLang="zh-C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dataset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4680" y="1200785"/>
            <a:ext cx="10515600" cy="4351338"/>
          </a:xfrm>
        </p:spPr>
        <p:txBody>
          <a:bodyPr/>
          <a:p>
            <a:r>
              <a:rPr lang="zh-CN" altLang="en-US">
                <a:solidFill>
                  <a:schemeClr val="tx1"/>
                </a:solidFill>
              </a:rPr>
              <a:t>8 rare cancer datasets (4 adult, 4 pediatric)</a:t>
            </a:r>
            <a:endParaRPr lang="zh-CN" altLang="en-US">
              <a:solidFill>
                <a:schemeClr val="tx1"/>
              </a:solidFill>
            </a:endParaRPr>
          </a:p>
          <a:p>
            <a:pPr marL="457200" indent="-457200">
              <a:buAutoNum type="arabicPeriod"/>
            </a:pPr>
            <a:r>
              <a:rPr lang="en-US" altLang="zh-CN">
                <a:solidFill>
                  <a:schemeClr val="tx1"/>
                </a:solidFill>
              </a:rPr>
              <a:t>adults </a:t>
            </a:r>
            <a:r>
              <a:rPr lang="zh-CN" altLang="en-US">
                <a:solidFill>
                  <a:schemeClr val="tx1"/>
                </a:solidFill>
              </a:rPr>
              <a:t>：</a:t>
            </a:r>
            <a:r>
              <a:rPr lang="en-US" altLang="zh-CN">
                <a:solidFill>
                  <a:schemeClr val="tx1"/>
                </a:solidFill>
              </a:rPr>
              <a:t>EBRAINS</a:t>
            </a:r>
            <a:r>
              <a:rPr lang="zh-CN" altLang="en-US">
                <a:solidFill>
                  <a:schemeClr val="tx1"/>
                </a:solidFill>
              </a:rPr>
              <a:t>，</a:t>
            </a:r>
            <a:r>
              <a:rPr lang="en-US" altLang="zh-CN">
                <a:solidFill>
                  <a:schemeClr val="tx1"/>
                </a:solidFill>
              </a:rPr>
              <a:t>TCGA</a:t>
            </a:r>
            <a:r>
              <a:rPr lang="zh-CN" altLang="en-US">
                <a:solidFill>
                  <a:schemeClr val="tx1"/>
                </a:solidFill>
              </a:rPr>
              <a:t>（</a:t>
            </a:r>
            <a:r>
              <a:rPr lang="en-US" altLang="zh-CN">
                <a:solidFill>
                  <a:schemeClr val="tx1"/>
                </a:solidFill>
              </a:rPr>
              <a:t>-UCS</a:t>
            </a:r>
            <a:r>
              <a:rPr lang="zh-CN" altLang="en-US">
                <a:solidFill>
                  <a:schemeClr val="tx1"/>
                </a:solidFill>
              </a:rPr>
              <a:t>，</a:t>
            </a:r>
            <a:r>
              <a:rPr lang="en-US" altLang="zh-CN">
                <a:solidFill>
                  <a:schemeClr val="tx1"/>
                </a:solidFill>
              </a:rPr>
              <a:t>-THYM</a:t>
            </a:r>
            <a:r>
              <a:rPr lang="zh-CN" altLang="en-US">
                <a:solidFill>
                  <a:schemeClr val="tx1"/>
                </a:solidFill>
              </a:rPr>
              <a:t>，</a:t>
            </a:r>
            <a:r>
              <a:rPr lang="en-US" altLang="zh-CN">
                <a:solidFill>
                  <a:schemeClr val="tx1"/>
                </a:solidFill>
              </a:rPr>
              <a:t>-SARC</a:t>
            </a:r>
            <a:r>
              <a:rPr lang="zh-CN" altLang="en-US">
                <a:solidFill>
                  <a:schemeClr val="tx1"/>
                </a:solidFill>
              </a:rPr>
              <a:t>）</a:t>
            </a:r>
            <a:r>
              <a:rPr lang="en-US" altLang="zh-CN">
                <a:solidFill>
                  <a:schemeClr val="tx1"/>
                </a:solidFill>
              </a:rPr>
              <a:t> </a:t>
            </a:r>
            <a:r>
              <a:rPr lang="zh-CN" altLang="en-US">
                <a:solidFill>
                  <a:srgbClr val="FF0000"/>
                </a:solidFill>
              </a:rPr>
              <a:t>只提供了</a:t>
            </a:r>
            <a:r>
              <a:rPr lang="en-US" altLang="zh-CN">
                <a:solidFill>
                  <a:srgbClr val="FF0000"/>
                </a:solidFill>
              </a:rPr>
              <a:t>ucs</a:t>
            </a:r>
            <a:r>
              <a:rPr lang="zh-CN" altLang="en-US">
                <a:solidFill>
                  <a:srgbClr val="FF0000"/>
                </a:solidFill>
              </a:rPr>
              <a:t>的</a:t>
            </a:r>
            <a:r>
              <a:rPr lang="en-US" altLang="zh-CN">
                <a:solidFill>
                  <a:srgbClr val="FF0000"/>
                </a:solidFill>
              </a:rPr>
              <a:t>csv</a:t>
            </a:r>
            <a:r>
              <a:rPr lang="zh-CN" altLang="en-US">
                <a:solidFill>
                  <a:srgbClr val="FF0000"/>
                </a:solidFill>
              </a:rPr>
              <a:t>文件</a:t>
            </a:r>
            <a:endParaRPr lang="en-US" altLang="zh-CN">
              <a:solidFill>
                <a:schemeClr val="tx1"/>
              </a:solidFill>
            </a:endParaRPr>
          </a:p>
          <a:p>
            <a:pPr marL="457200" indent="-457200">
              <a:buAutoNum type="arabicPeriod"/>
            </a:pPr>
            <a:r>
              <a:rPr lang="en-US" altLang="zh-CN">
                <a:solidFill>
                  <a:schemeClr val="tx1"/>
                </a:solidFill>
              </a:rPr>
              <a:t>pediatric</a:t>
            </a:r>
            <a:r>
              <a:rPr lang="zh-CN" altLang="en-US">
                <a:solidFill>
                  <a:schemeClr val="tx1"/>
                </a:solidFill>
              </a:rPr>
              <a:t>：</a:t>
            </a:r>
            <a:r>
              <a:rPr lang="en-US" altLang="zh-CN">
                <a:solidFill>
                  <a:schemeClr val="tx1"/>
                </a:solidFill>
              </a:rPr>
              <a:t>nephroblastoma (5 subtypes), hepatoblastoma(4 subtypes), medulloblastoma (3 subtypes), and neuroblastoma (3 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subtypes)</a:t>
            </a:r>
            <a:r>
              <a:rPr lang="en-US" altLang="zh-CN">
                <a:solidFill>
                  <a:schemeClr val="tx1"/>
                </a:solidFill>
              </a:rPr>
              <a:t> </a:t>
            </a:r>
            <a:endParaRPr lang="en-US" altLang="zh-CN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</a:rPr>
              <a:t>       </a:t>
            </a:r>
            <a:r>
              <a:rPr lang="zh-CN" altLang="en-US">
                <a:solidFill>
                  <a:schemeClr val="tx1"/>
                </a:solidFill>
              </a:rPr>
              <a:t>有</a:t>
            </a:r>
            <a:r>
              <a:rPr lang="en-US" altLang="zh-CN">
                <a:solidFill>
                  <a:schemeClr val="tx1"/>
                </a:solidFill>
              </a:rPr>
              <a:t>huggingface</a:t>
            </a:r>
            <a:r>
              <a:rPr lang="zh-CN" altLang="en-US">
                <a:solidFill>
                  <a:schemeClr val="tx1"/>
                </a:solidFill>
              </a:rPr>
              <a:t>链接，需要申请</a:t>
            </a:r>
            <a:endParaRPr lang="en-US" altLang="zh-CN">
              <a:solidFill>
                <a:schemeClr val="tx1"/>
              </a:solidFill>
            </a:endParaRPr>
          </a:p>
          <a:p>
            <a:r>
              <a:rPr lang="zh-CN" altLang="en-US">
                <a:solidFill>
                  <a:schemeClr val="tx1"/>
                </a:solidFill>
              </a:rPr>
              <a:t>3 common cancer datasets：UBC-OCEAN, TCGA-BRCA , TCGA-BRAIN</a:t>
            </a:r>
            <a:endParaRPr lang="zh-CN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800" b="1">
                <a:solidFill>
                  <a:schemeClr val="tx1"/>
                </a:solidFill>
              </a:rPr>
              <a:t>baseline</a:t>
            </a:r>
            <a:endParaRPr lang="zh-CN" altLang="en-US" sz="2800" b="1">
              <a:solidFill>
                <a:schemeClr val="tx1"/>
              </a:solidFill>
            </a:endParaRPr>
          </a:p>
          <a:p>
            <a:r>
              <a:rPr lang="en-US" altLang="zh-CN">
                <a:solidFill>
                  <a:schemeClr val="tx1"/>
                </a:solidFill>
              </a:rPr>
              <a:t>base VL models PILP MUSK CONCH KEEP</a:t>
            </a:r>
            <a:endParaRPr lang="en-US" altLang="zh-CN">
              <a:solidFill>
                <a:schemeClr val="tx1"/>
              </a:solidFill>
            </a:endParaRPr>
          </a:p>
          <a:p>
            <a:r>
              <a:rPr lang="en-US" altLang="zh-CN">
                <a:solidFill>
                  <a:schemeClr val="tx1"/>
                </a:solidFill>
              </a:rPr>
              <a:t>few-shot learning method zero-shot+MIL frameworks(ABMIL CLAM TransMIL DGRMIL)+PathPT</a:t>
            </a:r>
            <a:endParaRPr lang="en-US" altLang="zh-CN">
              <a:solidFill>
                <a:schemeClr val="tx1"/>
              </a:solidFill>
            </a:endParaRPr>
          </a:p>
          <a:p>
            <a:r>
              <a:rPr lang="en-US" altLang="zh-CN">
                <a:solidFill>
                  <a:schemeClr val="tx1"/>
                </a:solidFill>
                <a:sym typeface="+mn-ea"/>
              </a:rPr>
              <a:t>3 region segmentation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：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CAMELYON16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、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PANDA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、AGGC22</a:t>
            </a:r>
            <a:endParaRPr lang="zh-CN" altLang="en-US">
              <a:solidFill>
                <a:schemeClr val="tx1"/>
              </a:solidFill>
            </a:endParaRPr>
          </a:p>
          <a:p>
            <a:endParaRPr lang="en-US" altLang="zh-CN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4810" y="186690"/>
            <a:ext cx="6585585" cy="1830705"/>
          </a:xfrm>
        </p:spPr>
        <p:txBody>
          <a:bodyPr/>
          <a:p>
            <a:pPr marL="457200" indent="-457200">
              <a:buAutoNum type="arabicPeriod"/>
            </a:pPr>
            <a:r>
              <a:rPr lang="zh-CN" altLang="en-US"/>
              <a:t>Benchmark on Rare Adult Cancer Subtyping</a:t>
            </a:r>
            <a:endParaRPr lang="zh-CN" altLang="en-US"/>
          </a:p>
          <a:p>
            <a:pPr marL="457200" indent="-457200">
              <a:buAutoNum type="arabicPeriod"/>
            </a:pPr>
            <a:r>
              <a:rPr lang="zh-CN" altLang="en-US"/>
              <a:t>Benchmark on Rare Pediatric Cancer Subtyping</a:t>
            </a:r>
            <a:endParaRPr lang="zh-CN" altLang="en-US"/>
          </a:p>
          <a:p>
            <a:pPr marL="457200" indent="-457200">
              <a:buAutoNum type="arabicPeriod"/>
            </a:pPr>
            <a:r>
              <a:rPr lang="zh-CN" altLang="en-US"/>
              <a:t>Extending to Common Cancer Subtyping</a:t>
            </a:r>
            <a:endParaRPr lang="zh-CN" altLang="en-US"/>
          </a:p>
          <a:p>
            <a:pPr marL="457200" indent="-457200">
              <a:buAutoNum type="arabicPeriod"/>
            </a:pPr>
            <a:r>
              <a:rPr lang="zh-CN" altLang="en-US"/>
              <a:t>PathPT Enhances Cancerous Region Segmentation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670" y="1748790"/>
            <a:ext cx="10614660" cy="474916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主要源文件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train.py</a:t>
            </a:r>
            <a:endParaRPr lang="en-US" altLang="zh-CN"/>
          </a:p>
          <a:p>
            <a:pPr marL="457200" indent="-457200">
              <a:buAutoNum type="arabicPeriod"/>
            </a:pPr>
            <a:r>
              <a:rPr lang="en-US" altLang="zh-CN"/>
              <a:t>params.py </a:t>
            </a:r>
            <a:r>
              <a:rPr lang="zh-CN" altLang="en-US"/>
              <a:t>参数配置文件，只有</a:t>
            </a:r>
            <a:r>
              <a:rPr lang="en-US" altLang="zh-CN"/>
              <a:t>TCGA-UCS</a:t>
            </a:r>
            <a:r>
              <a:rPr lang="zh-CN" altLang="en-US"/>
              <a:t>的示例</a:t>
            </a:r>
            <a:endParaRPr lang="en-US" altLang="zh-CN"/>
          </a:p>
          <a:p>
            <a:pPr marL="457200" indent="-457200">
              <a:buAutoNum type="arabicPeriod"/>
            </a:pPr>
            <a:r>
              <a:rPr lang="en-US" altLang="zh-CN"/>
              <a:t>evaluation.py </a:t>
            </a:r>
            <a:r>
              <a:rPr lang="zh-CN" altLang="en-US"/>
              <a:t>获得</a:t>
            </a:r>
            <a:r>
              <a:rPr lang="en-US" altLang="zh-CN"/>
              <a:t>bacc,wf1,auc,dice</a:t>
            </a:r>
            <a:endParaRPr lang="en-US" altLang="zh-CN"/>
          </a:p>
          <a:p>
            <a:pPr marL="457200" indent="-457200">
              <a:buAutoNum type="arabicPeriod"/>
            </a:pPr>
            <a:r>
              <a:rPr lang="en-US" altLang="zh-CN"/>
              <a:t>subtyping/main_wsi_subtyping_{model}.py 加载数据+初始化模型+执行具体的少样本训练循环</a:t>
            </a:r>
            <a:endParaRPr lang="en-US" altLang="zh-CN"/>
          </a:p>
          <a:p>
            <a:pPr marL="457200" indent="-457200">
              <a:buAutoNum type="arabicPeriod"/>
            </a:pPr>
            <a:r>
              <a:rPr lang="en-US" altLang="zh-CN"/>
              <a:t>PathPT_model_{model}.py </a:t>
            </a:r>
            <a:r>
              <a:rPr lang="zh-CN" altLang="en-US"/>
              <a:t>实现</a:t>
            </a:r>
            <a:r>
              <a:rPr lang="en-US" altLang="zh-CN"/>
              <a:t>promptlearning</a:t>
            </a:r>
            <a:endParaRPr lang="en-US" altLang="zh-C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结果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71500" y="1184910"/>
            <a:ext cx="10515600" cy="297878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73710" y="4678045"/>
            <a:ext cx="1068959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TCGA-UCS + KEEP</a:t>
            </a:r>
            <a:endParaRPr lang="en-US" altLang="zh-CN"/>
          </a:p>
          <a:p>
            <a:r>
              <a:rPr lang="en-US" altLang="zh-CN"/>
              <a:t>loss: 1.0454	 patch_test:[0.6354, 0.5606]</a:t>
            </a:r>
            <a:endParaRPr lang="en-US" altLang="zh-CN"/>
          </a:p>
          <a:p>
            <a:r>
              <a:rPr lang="en-US" altLang="zh-CN"/>
              <a:t>patch_bacc (Balanced Accuracy)：图像块层面的平衡准确率0.6534</a:t>
            </a:r>
            <a:endParaRPr lang="en-US" altLang="zh-CN"/>
          </a:p>
          <a:p>
            <a:r>
              <a:rPr lang="en-US" altLang="zh-CN"/>
              <a:t>patch_wf1 (Weighted F1-score)：图像块层面的加权 F1 分数0.5606</a:t>
            </a:r>
            <a:endParaRPr lang="en-US" altLang="zh-C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7" name="内容占位符 6"/>
          <p:cNvPicPr>
            <a:picLocks noChangeAspect="1"/>
          </p:cNvPicPr>
          <p:nvPr>
            <p:ph sz="half" idx="1"/>
          </p:nvPr>
        </p:nvPicPr>
        <p:blipFill>
          <a:blip r:embed="rId1"/>
          <a:stretch>
            <a:fillRect/>
          </a:stretch>
        </p:blipFill>
        <p:spPr>
          <a:xfrm>
            <a:off x="647700" y="1678305"/>
            <a:ext cx="5181600" cy="148272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853440" y="3616325"/>
            <a:ext cx="45180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5shot--0.5729		1shot-0.4792</a:t>
            </a:r>
            <a:endParaRPr lang="en-US" altLang="zh-CN"/>
          </a:p>
        </p:txBody>
      </p:sp>
      <p:pic>
        <p:nvPicPr>
          <p:cNvPr id="9" name="内容占位符 8"/>
          <p:cNvPicPr>
            <a:picLocks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020435" y="1750060"/>
            <a:ext cx="5181600" cy="133921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多个</a:t>
            </a:r>
            <a:r>
              <a:rPr lang="en-US" altLang="zh-CN"/>
              <a:t>baseline</a:t>
            </a:r>
            <a:r>
              <a:rPr lang="zh-CN" altLang="en-US"/>
              <a:t>论文复现的标准？</a:t>
            </a:r>
            <a:endParaRPr lang="zh-CN" altLang="en-US"/>
          </a:p>
          <a:p>
            <a:r>
              <a:rPr lang="zh-CN" altLang="en-US"/>
              <a:t>大研课题</a:t>
            </a:r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2349</Words>
  <Application>WPS 演示</Application>
  <PresentationFormat>宽屏</PresentationFormat>
  <Paragraphs>82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9" baseType="lpstr">
      <vt:lpstr>Arial</vt:lpstr>
      <vt:lpstr>宋体</vt:lpstr>
      <vt:lpstr>Wingdings</vt:lpstr>
      <vt:lpstr>Arial Black</vt:lpstr>
      <vt:lpstr>微软雅黑</vt:lpstr>
      <vt:lpstr>Arial Unicode MS</vt:lpstr>
      <vt:lpstr>黑体</vt:lpstr>
      <vt:lpstr>Office 主题​​</vt:lpstr>
      <vt:lpstr>PowerPoint 演示文稿</vt:lpstr>
      <vt:lpstr>数据来源</vt:lpstr>
      <vt:lpstr>原理</vt:lpstr>
      <vt:lpstr>主要文件</vt:lpstr>
      <vt:lpstr>Boosting Pathology Foundation Models via Few-shot Prompt-tuning for Rare Cancer Subtyping</vt:lpstr>
      <vt:lpstr>dataset</vt:lpstr>
      <vt:lpstr>PowerPoint 演示文稿</vt:lpstr>
      <vt:lpstr>主要源文件</vt:lpstr>
      <vt:lpstr>结果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18206</dc:creator>
  <cp:lastModifiedBy>18206</cp:lastModifiedBy>
  <cp:revision>14</cp:revision>
  <dcterms:created xsi:type="dcterms:W3CDTF">2019-09-19T02:01:00Z</dcterms:created>
  <dcterms:modified xsi:type="dcterms:W3CDTF">2026-03-11T09:08:04Z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2052-11.8.2.11716</vt:lpwstr>
  </property>
  <property fmtid="{D5CDD505-2E9C-101B-9397-08002B2CF9AE}" pid="3" name="ICV">
    <vt:lpwstr>53A4BFA6732B4BB690335A58881B6EE8</vt:lpwstr>
  </property>
</Properties>
</file>